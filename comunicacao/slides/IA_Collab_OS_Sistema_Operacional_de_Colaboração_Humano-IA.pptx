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97282"/>
            <a:ext cx="4629150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</a:rPr>
              <a:t>IA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</a:rPr>
              <a:t>COLLAB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</a:rPr>
              <a:t>OS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428625" y="2791783"/>
            <a:ext cx="46291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Sistema Operacional de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Colaboração Humano-IA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3626151"/>
            <a:ext cx="3703309" cy="7200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3626151"/>
            <a:ext cx="28575" cy="720040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3626151"/>
            <a:ext cx="3703309" cy="72004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Um framework metodológico para orquestração eficaz de equipes multiagentes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4539853"/>
            <a:ext cx="19705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Henrique M. Ribeiro &amp; Manus AI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3657600" cy="247232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2438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429625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42962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O Desafio da Colaboração Humano-IA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466255"/>
            <a:ext cx="2857500" cy="3429000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66255"/>
            <a:ext cx="2857500" cy="3429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71875" y="1466255"/>
            <a:ext cx="528637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O desenvolvimento assistido por IA promete acelerar a produtividade, mas na prática enfrenta obstáculos críticos que limitam seu potencial e geram caos.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3679031" y="2646536"/>
            <a:ext cx="24788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01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3679031" y="2810842"/>
            <a:ext cx="24788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Perda de Contexto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3679031" y="3034085"/>
            <a:ext cx="24788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Janelas de contexto limitadas levam ao esquecimento de decisões e histórico.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6379369" y="2646536"/>
            <a:ext cx="24788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02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6379369" y="2810842"/>
            <a:ext cx="24788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Sobrecarga Cognitiva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6379369" y="3034085"/>
            <a:ext cx="24788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Mistura constante de visão estratégica com detalhes técnicos de implementação.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3679031" y="3445520"/>
            <a:ext cx="24788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03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3679031" y="3609826"/>
            <a:ext cx="24788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Falta de Continuidade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3679031" y="3833068"/>
            <a:ext cx="24788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Transições mal geridas entre sessões resultam em retrabalho significativo.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6379369" y="3445520"/>
            <a:ext cx="24788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04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6379369" y="3609826"/>
            <a:ext cx="24788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Decisões Implícitas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6379369" y="3833068"/>
            <a:ext cx="24788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Escolhas arquiteturais não documentadas se perdem no fluxo do chat.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3679031" y="4244504"/>
            <a:ext cx="24788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05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3679031" y="4408810"/>
            <a:ext cx="24788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Coordenação Difusa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3679031" y="4632052"/>
            <a:ext cx="24788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Ausência de papéis claros gera ambiguidade sobre quem decide o quê.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A Solução - IA Collab OS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51955"/>
            <a:ext cx="4057650" cy="9600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O framework resolve estes desafios através de uma abordagem estruturada que separa responsabilidades, formaliza a transferência de contexto e documenta decisões.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21506" y="2526320"/>
            <a:ext cx="23091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Separação de Responsabilidades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21506" y="2821000"/>
            <a:ext cx="15836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Protocolos de Handoff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21506" y="3115680"/>
            <a:ext cx="21755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Documentação como Contrato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21506" y="3410359"/>
            <a:ext cx="22997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Planejamento Precede Execução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21506" y="3705039"/>
            <a:ext cx="17472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Memória Compartilhada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657725" y="1351955"/>
            <a:ext cx="4057650" cy="214312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351955"/>
            <a:ext cx="4057650" cy="21431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57725" y="3609380"/>
            <a:ext cx="4057650" cy="110549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" name="Text 11"/>
          <p:cNvSpPr/>
          <p:nvPr/>
        </p:nvSpPr>
        <p:spPr>
          <a:xfrm>
            <a:off x="4800600" y="3939248"/>
            <a:ext cx="377190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Inspirado em estruturas organizacionais tradicionais, adaptado para a era da IA.</a:t>
            </a:r>
            <a:endParaRPr lang="en-US" sz="119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38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Estrutura Organizacional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94817"/>
            <a:ext cx="48006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Três papéis distintos garantem foco e eficiência, simulando uma hierarquia funcional onde o planejamento precede a execução.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428625" y="2049140"/>
            <a:ext cx="571500" cy="571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204914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01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1300163" y="2049140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CEO (Humano)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300163" y="2318817"/>
            <a:ext cx="392906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Mantém a visão de negócio, define prioridades e orquestra a equipa.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1300163" y="2503103"/>
            <a:ext cx="3929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INPUT: Problema de Negócio → OUTPUT: Handoff Estratégico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428625" y="2790639"/>
            <a:ext cx="571500" cy="5715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279063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02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1300163" y="2790639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</a:rPr>
              <a:t>CTO (IA)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300163" y="3060316"/>
            <a:ext cx="392906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Traduz requisitos em arquitetura, cria especificações e documenta decisões (ADRs).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1300163" y="3393170"/>
            <a:ext cx="3929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INPUT: Handoff Estratégico → OUTPUT: Specs Técnicas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428625" y="3680706"/>
            <a:ext cx="571500" cy="571500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368070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03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1300163" y="3680706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400"/>
                </a:solidFill>
              </a:rPr>
              <a:t>Dev (IA)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1300163" y="3950382"/>
            <a:ext cx="392906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Implementa o código seguindo rigorosamente as especificações técnicas.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300163" y="4283236"/>
            <a:ext cx="3929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INPUT: Specs Técnicas → OUTPUT: Código &amp; Testes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5514975" y="1394817"/>
            <a:ext cx="3200400" cy="3621881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842" y="2853035"/>
            <a:ext cx="2188639" cy="15537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063621" y="4323755"/>
            <a:ext cx="2103109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Adaptação de estruturas de equipas de desenvolvimento tradicionais para o contexto de colaboração com Agentes de IA.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900363" cy="4286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21844" y="428625"/>
            <a:ext cx="7144" cy="42862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2614613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Os 5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Princípios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Fundamentais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428625" y="3857625"/>
            <a:ext cx="261461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Estes princípios não são apenas regras, mas manifestações de uma filosofia epistemológica sobre como humanos e IAs devem colaborar.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57613" y="428625"/>
            <a:ext cx="23717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01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3757613" y="812602"/>
            <a:ext cx="2371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Documentação é Contrato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3757613" y="1084064"/>
            <a:ext cx="23717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Toda decisão relevante deve ser documentada em artefatos formais para garantir rastreabilidade.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343650" y="428625"/>
            <a:ext cx="23717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02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6343650" y="812602"/>
            <a:ext cx="2371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Escopo Limitado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6343650" y="1084064"/>
            <a:ext cx="23717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Cada sessão tem objetivo delimitado com critérios verificáveis para evitar perda de foco.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757613" y="1928813"/>
            <a:ext cx="23717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03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3757613" y="2312789"/>
            <a:ext cx="2371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Decisões Explícitas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3757613" y="2584252"/>
            <a:ext cx="2371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Escolhas técnicas são documentadas com contexto e justificativa (ADRs).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6343650" y="1928813"/>
            <a:ext cx="23717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04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6343650" y="2312789"/>
            <a:ext cx="2371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CEO como Orquestrador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343650" y="2584252"/>
            <a:ext cx="23717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 humano mantém a coerência estratégica e a visão de negócio em todos os momentos.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757613" y="3917454"/>
            <a:ext cx="4018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05</a:t>
            </a:r>
            <a:endParaRPr lang="en-US" sz="2436" dirty="0"/>
          </a:p>
        </p:txBody>
      </p:sp>
      <p:sp>
        <p:nvSpPr>
          <p:cNvPr id="20" name="Text 17"/>
          <p:cNvSpPr/>
          <p:nvPr/>
        </p:nvSpPr>
        <p:spPr>
          <a:xfrm>
            <a:off x="4302379" y="3819590"/>
            <a:ext cx="44129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Handoffs Completos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302379" y="4121414"/>
            <a:ext cx="441299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Toda transição preserva decisões, estado e próximos passos, garantindo continuidade perfeita.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2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9429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34302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O Ciclo de Trabalho - Sprint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966192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Cada sprint segue 5 fases obrigatórias para garantir qualidade e rastreabilidade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735931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01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928688" y="1735931"/>
            <a:ext cx="230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Planejamento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928688" y="1985963"/>
            <a:ext cx="23090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CEO + CTO definem O QUÊ e POR QUÊ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374571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02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928688" y="2374571"/>
            <a:ext cx="24314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Especificação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928688" y="2624603"/>
            <a:ext cx="243147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CTO define COMO (arquitetura e design)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3013211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03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928688" y="3013211"/>
            <a:ext cx="21559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Implementação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928688" y="3263243"/>
            <a:ext cx="215590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Dev traduz especificação em código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3651852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04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928688" y="3651852"/>
            <a:ext cx="20363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Validação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928688" y="3901883"/>
            <a:ext cx="2036332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CEO verifica critérios de aceitação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28625" y="4290492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05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928688" y="4290492"/>
            <a:ext cx="22857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Retrospectiva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928688" y="4540523"/>
            <a:ext cx="2285777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Equipa aprende e melhora o processo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572125" y="1628775"/>
            <a:ext cx="3143250" cy="6429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 ciclo de trabalho opera em dois níveis: Sprint (macro) e Sessão (micro). Um Sprint é um ciclo de 1-2 semanas com objetivo claro.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572125" y="2671707"/>
            <a:ext cx="3143250" cy="214312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2671707"/>
            <a:ext cx="3143250" cy="214312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572125" y="4627308"/>
            <a:ext cx="1527004" cy="18752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6" name="Text 22"/>
          <p:cNvSpPr/>
          <p:nvPr/>
        </p:nvSpPr>
        <p:spPr>
          <a:xfrm>
            <a:off x="5572125" y="4627308"/>
            <a:ext cx="1527004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Fluxo de Trabalho Automatizado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7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O Ciclo de Trabalho - Sessão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94817"/>
            <a:ext cx="48006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Uma Sessão é uma unidade de trabalho de 1-4 horas. O protocolo garante que o contexto seja carregado, o foco mantido e o conhecimento preservado.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428625" y="2269145"/>
            <a:ext cx="4800600" cy="81327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269145"/>
            <a:ext cx="42863" cy="81327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269145"/>
            <a:ext cx="1000125" cy="81327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672657" y="2588270"/>
            <a:ext cx="2620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5-15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934743" y="2588270"/>
            <a:ext cx="249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min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571625" y="2412020"/>
            <a:ext cx="3514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1. Abertura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571625" y="2642406"/>
            <a:ext cx="35147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Ler handoff anterior, revisar documentos, confirmar objetivo e carregar contexto.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28625" y="3225292"/>
            <a:ext cx="4800600" cy="81327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225292"/>
            <a:ext cx="42863" cy="81327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3225292"/>
            <a:ext cx="1000125" cy="81327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587657" y="3544416"/>
            <a:ext cx="2629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80%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850636" y="3544416"/>
            <a:ext cx="4190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tempo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1571625" y="3368167"/>
            <a:ext cx="3514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2. Execução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1571625" y="3598552"/>
            <a:ext cx="35147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Foco total no escopo definido. Documentar decisões durante o processo. Commits frequentes.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28625" y="4181438"/>
            <a:ext cx="4800600" cy="81327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4181438"/>
            <a:ext cx="42863" cy="813271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4181438"/>
            <a:ext cx="1000125" cy="81327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1"/>
          <p:cNvSpPr/>
          <p:nvPr/>
        </p:nvSpPr>
        <p:spPr>
          <a:xfrm>
            <a:off x="635877" y="4500563"/>
            <a:ext cx="3356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10-20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971494" y="4500563"/>
            <a:ext cx="249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min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571625" y="4324313"/>
            <a:ext cx="3514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3. Encerramento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1571625" y="4554699"/>
            <a:ext cx="35147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Criar handoff detalhado para a próxima sessão. Commit final. Atualizar status do projeto.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5514975" y="1408826"/>
            <a:ext cx="3200400" cy="35718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514975" y="1408826"/>
            <a:ext cx="3200400" cy="3571875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5514975" y="4702094"/>
            <a:ext cx="1452107" cy="278606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1" name="Text 27"/>
          <p:cNvSpPr/>
          <p:nvPr/>
        </p:nvSpPr>
        <p:spPr>
          <a:xfrm>
            <a:off x="5514975" y="4702094"/>
            <a:ext cx="1452107" cy="27860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PROTOCOLO DE SESSÃO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4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Artefatos do Framework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466255"/>
            <a:ext cx="4800600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Quatro tipos de artefatos estruturados garantem a memória compartilhada e a rastreabilidade do projeto.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2232031"/>
            <a:ext cx="2293144" cy="124798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232031"/>
            <a:ext cx="2293144" cy="2857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374906"/>
            <a:ext cx="20073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5FF"/>
                </a:solidFill>
              </a:rPr>
              <a:t>Handoff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641011"/>
            <a:ext cx="20073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Transfere contexto crítico entre sessões de trabalho.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032466"/>
            <a:ext cx="20073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</a:rPr>
              <a:t>Quando: Final da Sessão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936081" y="2232031"/>
            <a:ext cx="2293144" cy="124798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6081" y="2232031"/>
            <a:ext cx="2293144" cy="2857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3078956" y="2374906"/>
            <a:ext cx="20073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5FF"/>
                </a:solidFill>
              </a:rPr>
              <a:t>ADR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078956" y="2641011"/>
            <a:ext cx="200739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Architecture Decision Record. Registra decisões técnicas permanentes.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078956" y="3192475"/>
            <a:ext cx="20073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</a:rPr>
              <a:t>Quando: Decisão de Impacto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428625" y="3665748"/>
            <a:ext cx="2293144" cy="108797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3665748"/>
            <a:ext cx="2293144" cy="2857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3808623"/>
            <a:ext cx="20073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5FF"/>
                </a:solidFill>
              </a:rPr>
              <a:t>Session Log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71500" y="4074728"/>
            <a:ext cx="20073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Diário de atividades e pensamentos durante a execução.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71500" y="4466183"/>
            <a:ext cx="20073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</a:rPr>
              <a:t>Quando: Durante a Sessão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2936081" y="3665748"/>
            <a:ext cx="2293144" cy="108797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0"/>
          <p:cNvSpPr/>
          <p:nvPr/>
        </p:nvSpPr>
        <p:spPr>
          <a:xfrm>
            <a:off x="2936081" y="3665748"/>
            <a:ext cx="2293144" cy="2857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4" name="Text 21"/>
          <p:cNvSpPr/>
          <p:nvPr/>
        </p:nvSpPr>
        <p:spPr>
          <a:xfrm>
            <a:off x="3078956" y="3808623"/>
            <a:ext cx="20073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5FF"/>
                </a:solidFill>
              </a:rPr>
              <a:t>Sprint Plan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3078956" y="4074728"/>
            <a:ext cx="20073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Roteiro detalhado de objetivos e tarefas para o ciclo.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078956" y="4466183"/>
            <a:ext cx="20073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</a:rPr>
              <a:t>Quando: Início do Sprint</a:t>
            </a:r>
            <a:endParaRPr lang="en-US" sz="584" dirty="0"/>
          </a:p>
        </p:txBody>
      </p:sp>
      <p:sp>
        <p:nvSpPr>
          <p:cNvPr id="27" name="Shape 24"/>
          <p:cNvSpPr/>
          <p:nvPr/>
        </p:nvSpPr>
        <p:spPr>
          <a:xfrm>
            <a:off x="5514975" y="1466255"/>
            <a:ext cx="3200400" cy="3258889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725" y="2083826"/>
            <a:ext cx="2628900" cy="17451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321075" y="3971841"/>
            <a:ext cx="15882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Fluxo de Dados e Documentação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7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3894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789509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4972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Caso de Estudo:</a:t>
            </a:r>
            <a:pPr algn="l" indent="0" marL="0">
              <a:lnSpc>
                <a:spcPts val="27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Tocantins Integrado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185863"/>
            <a:ext cx="49720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Validação real do framework na criação de uma plataforma de superinteligência territorial.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28650" y="1296591"/>
            <a:ext cx="1386725" cy="27860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328650" y="1296591"/>
            <a:ext cx="1386725" cy="27860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</a:rPr>
              <a:t>Dez 2025 - Jan 2026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85800" y="2226339"/>
            <a:ext cx="23145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spc="-2" kern="0" dirty="0">
                <a:solidFill>
                  <a:srgbClr val="0055FF"/>
                </a:solidFill>
              </a:rPr>
              <a:t>2.5</a:t>
            </a:r>
            <a:endParaRPr lang="en-US" sz="4145" dirty="0"/>
          </a:p>
        </p:txBody>
      </p:sp>
      <p:sp>
        <p:nvSpPr>
          <p:cNvPr id="10" name="Text 7"/>
          <p:cNvSpPr/>
          <p:nvPr/>
        </p:nvSpPr>
        <p:spPr>
          <a:xfrm>
            <a:off x="685800" y="2869276"/>
            <a:ext cx="23145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Semanas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85800" y="3080017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Tempo total até o MVP (Estimado: 3)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514725" y="2226339"/>
            <a:ext cx="23431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spc="-2" kern="0" dirty="0">
                <a:solidFill>
                  <a:srgbClr val="0055FF"/>
                </a:solidFill>
              </a:rPr>
              <a:t>12%</a:t>
            </a:r>
            <a:endParaRPr lang="en-US" sz="4145" dirty="0"/>
          </a:p>
        </p:txBody>
      </p:sp>
      <p:sp>
        <p:nvSpPr>
          <p:cNvPr id="13" name="Text 10"/>
          <p:cNvSpPr/>
          <p:nvPr/>
        </p:nvSpPr>
        <p:spPr>
          <a:xfrm>
            <a:off x="3514725" y="2869276"/>
            <a:ext cx="23431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Retrabalho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3514725" y="3080017"/>
            <a:ext cx="2343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Redução significativa vs 30% média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372225" y="2226339"/>
            <a:ext cx="23431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spc="-2" kern="0" dirty="0">
                <a:solidFill>
                  <a:srgbClr val="0055FF"/>
                </a:solidFill>
              </a:rPr>
              <a:t>14</a:t>
            </a:r>
            <a:endParaRPr lang="en-US" sz="4145" dirty="0"/>
          </a:p>
        </p:txBody>
      </p:sp>
      <p:sp>
        <p:nvSpPr>
          <p:cNvPr id="16" name="Text 13"/>
          <p:cNvSpPr/>
          <p:nvPr/>
        </p:nvSpPr>
        <p:spPr>
          <a:xfrm>
            <a:off x="6372225" y="2869276"/>
            <a:ext cx="23431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Handoffs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372225" y="3080017"/>
            <a:ext cx="2343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Ciclos de transferência de contexto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57225" y="3660781"/>
            <a:ext cx="23431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spc="-2" kern="0" dirty="0">
                <a:solidFill>
                  <a:srgbClr val="0055FF"/>
                </a:solidFill>
              </a:rPr>
              <a:t>04</a:t>
            </a:r>
            <a:endParaRPr lang="en-US" sz="4145" dirty="0"/>
          </a:p>
        </p:txBody>
      </p:sp>
      <p:sp>
        <p:nvSpPr>
          <p:cNvPr id="19" name="Text 16"/>
          <p:cNvSpPr/>
          <p:nvPr/>
        </p:nvSpPr>
        <p:spPr>
          <a:xfrm>
            <a:off x="657225" y="4303719"/>
            <a:ext cx="23431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ADRs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657225" y="4514459"/>
            <a:ext cx="2343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Decisões arquiteturais documentadas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514725" y="3660781"/>
            <a:ext cx="23431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spc="-2" kern="0" dirty="0">
                <a:solidFill>
                  <a:srgbClr val="0055FF"/>
                </a:solidFill>
              </a:rPr>
              <a:t>0</a:t>
            </a:r>
            <a:endParaRPr lang="en-US" sz="4145" dirty="0"/>
          </a:p>
        </p:txBody>
      </p:sp>
      <p:sp>
        <p:nvSpPr>
          <p:cNvPr id="22" name="Text 19"/>
          <p:cNvSpPr/>
          <p:nvPr/>
        </p:nvSpPr>
        <p:spPr>
          <a:xfrm>
            <a:off x="3514725" y="4303719"/>
            <a:ext cx="23431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Bugs Críticos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514725" y="4514459"/>
            <a:ext cx="2343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Em produção durante a validação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6143625" y="3581140"/>
            <a:ext cx="2571750" cy="1148693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5" name="Text 22"/>
          <p:cNvSpPr/>
          <p:nvPr/>
        </p:nvSpPr>
        <p:spPr>
          <a:xfrm>
            <a:off x="6357938" y="3795452"/>
            <a:ext cx="214312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"A formalização dos papéis permitiu que a IA mantivesse a coerência técnica enquanto o humano focava na estratégia."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17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1769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576983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Métricas de Sucesso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966192"/>
            <a:ext cx="57150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Indicadores claros permitem avaliar se a metodologia está a funcionar e identificar desvios precocemente.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048470"/>
            <a:ext cx="25717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974" b="1" spc="-3" kern="0" dirty="0">
                <a:solidFill>
                  <a:srgbClr val="000000"/>
                </a:solidFill>
              </a:rPr>
              <a:t>≥ 5</a:t>
            </a:r>
            <a:endParaRPr lang="en-US" sz="4974" dirty="0"/>
          </a:p>
        </p:txBody>
      </p:sp>
      <p:sp>
        <p:nvSpPr>
          <p:cNvPr id="8" name="Text 5"/>
          <p:cNvSpPr/>
          <p:nvPr/>
        </p:nvSpPr>
        <p:spPr>
          <a:xfrm>
            <a:off x="428625" y="2805708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Handoffs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28625" y="3075384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Por semana de trabalho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286125" y="2048470"/>
            <a:ext cx="25717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974" b="1" spc="-3" kern="0" dirty="0">
                <a:solidFill>
                  <a:srgbClr val="000000"/>
                </a:solidFill>
              </a:rPr>
              <a:t>≥ 2</a:t>
            </a:r>
            <a:endParaRPr lang="en-US" sz="4974" dirty="0"/>
          </a:p>
        </p:txBody>
      </p:sp>
      <p:sp>
        <p:nvSpPr>
          <p:cNvPr id="11" name="Text 8"/>
          <p:cNvSpPr/>
          <p:nvPr/>
        </p:nvSpPr>
        <p:spPr>
          <a:xfrm>
            <a:off x="3286125" y="2805708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ADRs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286125" y="3075384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Por sprint (decisões técnicas)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143625" y="2048470"/>
            <a:ext cx="25717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974" b="1" spc="-3" kern="0" dirty="0">
                <a:solidFill>
                  <a:srgbClr val="000000"/>
                </a:solidFill>
              </a:rPr>
              <a:t>100%</a:t>
            </a:r>
            <a:endParaRPr lang="en-US" sz="4974" dirty="0"/>
          </a:p>
        </p:txBody>
      </p:sp>
      <p:sp>
        <p:nvSpPr>
          <p:cNvPr id="14" name="Text 11"/>
          <p:cNvSpPr/>
          <p:nvPr/>
        </p:nvSpPr>
        <p:spPr>
          <a:xfrm>
            <a:off x="6143625" y="2805708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Escopo Claro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143625" y="3075384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Sessões com objetivo definido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28625" y="3702248"/>
            <a:ext cx="25717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974" b="1" spc="-3" kern="0" dirty="0">
                <a:solidFill>
                  <a:srgbClr val="000000"/>
                </a:solidFill>
              </a:rPr>
              <a:t>&lt; 20%</a:t>
            </a:r>
            <a:endParaRPr lang="en-US" sz="4974" dirty="0"/>
          </a:p>
        </p:txBody>
      </p:sp>
      <p:sp>
        <p:nvSpPr>
          <p:cNvPr id="17" name="Text 14"/>
          <p:cNvSpPr/>
          <p:nvPr/>
        </p:nvSpPr>
        <p:spPr>
          <a:xfrm>
            <a:off x="428625" y="4459486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Retrabalho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28625" y="4729163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Taxa máxima aceitável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286125" y="3702248"/>
            <a:ext cx="25717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974" b="1" spc="-3" kern="0" dirty="0">
                <a:solidFill>
                  <a:srgbClr val="000000"/>
                </a:solidFill>
              </a:rPr>
              <a:t>&lt; 5</a:t>
            </a:r>
            <a:endParaRPr lang="en-US" sz="4974" dirty="0"/>
          </a:p>
        </p:txBody>
      </p:sp>
      <p:sp>
        <p:nvSpPr>
          <p:cNvPr id="20" name="Text 17"/>
          <p:cNvSpPr/>
          <p:nvPr/>
        </p:nvSpPr>
        <p:spPr>
          <a:xfrm>
            <a:off x="3286125" y="4459486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Bugs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3286125" y="4729163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Em fase de validação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6143625" y="3516511"/>
            <a:ext cx="2571750" cy="13680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Text 20"/>
          <p:cNvSpPr/>
          <p:nvPr/>
        </p:nvSpPr>
        <p:spPr>
          <a:xfrm>
            <a:off x="6357938" y="3840491"/>
            <a:ext cx="214312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"O framework define métricas objetivas para monitorizar a saúde do processo e servir como sinais de alerta."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7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Quando Usar o IA Collab OS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6429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O framework não é uma solução universal. Ele brilha em contextos onde a preservação de contexto e a rastreabilidade são críticas para o sucesso.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2245426"/>
            <a:ext cx="285750" cy="285750"/>
          </a:xfrm>
          <a:prstGeom prst="ellipse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224542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✓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821531" y="2232031"/>
            <a:ext cx="11964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</a:rPr>
              <a:t>Ideal Para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592931" y="2758883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Projetos de Médio/Longo Prazo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92931" y="3025685"/>
            <a:ext cx="30456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Duração superior a 1 semana ou múltiplos sprints.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92931" y="3274628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Sistemas Complexos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92931" y="3541430"/>
            <a:ext cx="29208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Múltiplas decisões arquiteturais e componentes.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92931" y="3790373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Equipas Distribuídas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592931" y="4057176"/>
            <a:ext cx="28201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Necessidade de comunicação assíncrona clara.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92931" y="4306119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Rastreabilidade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92931" y="4572921"/>
            <a:ext cx="2823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Necessidade de auditoria de decisões técnicas.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857750" y="2245426"/>
            <a:ext cx="285750" cy="285750"/>
          </a:xfrm>
          <a:prstGeom prst="ellipse">
            <a:avLst/>
          </a:prstGeom>
          <a:solidFill>
            <a:srgbClr val="FF44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224542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!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250656" y="2232031"/>
            <a:ext cx="28931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400"/>
                </a:solidFill>
              </a:rPr>
              <a:t>Pode ser Exagerado Para</a:t>
            </a:r>
            <a:endParaRPr lang="en-US" sz="1602" dirty="0"/>
          </a:p>
        </p:txBody>
      </p:sp>
      <p:sp>
        <p:nvSpPr>
          <p:cNvPr id="21" name="Text 18"/>
          <p:cNvSpPr/>
          <p:nvPr/>
        </p:nvSpPr>
        <p:spPr>
          <a:xfrm>
            <a:off x="5022056" y="2758883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Scripts Únicos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5022056" y="3025685"/>
            <a:ext cx="23221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Automações simples de arquivo único.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022056" y="3274628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Prototipagem Rápida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5022056" y="3541430"/>
            <a:ext cx="26803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Hackathons ou testes de conceito de &lt; 1 dia.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022056" y="3790373"/>
            <a:ext cx="369331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Tarefas Triviais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5022056" y="4057176"/>
            <a:ext cx="2746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Ajustes visuais simples ou correções de texto.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7175" y="428625"/>
            <a:ext cx="8629622" cy="10519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7175" y="1451967"/>
            <a:ext cx="8629622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57175" y="428625"/>
            <a:ext cx="862962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Como Começar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57175" y="1723430"/>
            <a:ext cx="428625" cy="3657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3294" b="1" dirty="0">
                <a:solidFill>
                  <a:srgbClr val="0055FF"/>
                </a:solidFill>
              </a:rPr>
              <a:t>01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828675" y="1723430"/>
            <a:ext cx="469444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Leia os Fundamentos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828675" y="2053828"/>
            <a:ext cx="46944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Comece pelos arquivos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PRINCIPLES.md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 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METHODOLOGY.md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 para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entender a filosofia.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7175" y="2625328"/>
            <a:ext cx="428625" cy="3657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3294" b="1" dirty="0">
                <a:solidFill>
                  <a:srgbClr val="0055FF"/>
                </a:solidFill>
              </a:rPr>
              <a:t>02</a:t>
            </a:r>
            <a:endParaRPr lang="en-US" sz="3294" dirty="0"/>
          </a:p>
        </p:txBody>
      </p:sp>
      <p:sp>
        <p:nvSpPr>
          <p:cNvPr id="10" name="Text 7"/>
          <p:cNvSpPr/>
          <p:nvPr/>
        </p:nvSpPr>
        <p:spPr>
          <a:xfrm>
            <a:off x="828675" y="2625328"/>
            <a:ext cx="469444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Defina os Papéis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828675" y="2955727"/>
            <a:ext cx="46944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Decida explicitamente quem atuará como CEO (Humano), CTO (IA) e Dev (IA) no seu projeto.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7175" y="3527227"/>
            <a:ext cx="428625" cy="3657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3294" b="1" dirty="0">
                <a:solidFill>
                  <a:srgbClr val="0055FF"/>
                </a:solidFill>
              </a:rPr>
              <a:t>03</a:t>
            </a:r>
            <a:endParaRPr lang="en-US" sz="3294" dirty="0"/>
          </a:p>
        </p:txBody>
      </p:sp>
      <p:sp>
        <p:nvSpPr>
          <p:cNvPr id="13" name="Text 10"/>
          <p:cNvSpPr/>
          <p:nvPr/>
        </p:nvSpPr>
        <p:spPr>
          <a:xfrm>
            <a:off x="828675" y="3527227"/>
            <a:ext cx="469444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Use os Templates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828675" y="3857625"/>
            <a:ext cx="46944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Inicie com os templates de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Handoff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 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ADR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 básicos para criar o hábito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de documentação.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66023" y="1723430"/>
            <a:ext cx="3020774" cy="32771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037473" y="1894880"/>
            <a:ext cx="2677874" cy="41255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Recursos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6037473" y="2450306"/>
            <a:ext cx="26778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Repositório Oficial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037473" y="2628900"/>
            <a:ext cx="26778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github.com/henrique-m-ribeiro/ia-collab-os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6037473" y="3157538"/>
            <a:ext cx="26778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Tutorial Prático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037473" y="3336131"/>
            <a:ext cx="26778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Consulte o arquivo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QUICKSTART.md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 para um guia de 30 minutos.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6037473" y="3864769"/>
            <a:ext cx="26778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Licença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037473" y="4043363"/>
            <a:ext cx="26778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MIT (Open Source)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8743894" y="1723430"/>
            <a:ext cx="142875" cy="142875"/>
          </a:xfrm>
          <a:prstGeom prst="rect">
            <a:avLst/>
          </a:prstGeom>
          <a:solidFill>
            <a:srgbClr val="FF44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991223"/>
            <a:ext cx="7143750" cy="220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"A formalização de papéis e 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protocolos não é um 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constrangimento burocrático, mas 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uma ferramenta de 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55FF"/>
                </a:solidFill>
              </a:rPr>
              <a:t>libertação 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55FF"/>
                </a:solidFill>
              </a:rPr>
              <a:t>cognitiva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2" kern="0" dirty="0">
                <a:solidFill>
                  <a:srgbClr val="000000"/>
                </a:solidFill>
              </a:rPr>
              <a:t>."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0" y="3825478"/>
            <a:ext cx="9144000" cy="131802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4328220"/>
            <a:ext cx="152591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-1" kern="0" dirty="0">
                <a:solidFill>
                  <a:srgbClr val="FFFFFF"/>
                </a:solidFill>
              </a:rPr>
              <a:t>IA Collab OS</a:t>
            </a:r>
            <a:endParaRPr lang="en-US" sz="1602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326" y="4271070"/>
            <a:ext cx="194667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93149" y="4254103"/>
            <a:ext cx="363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github.com/henrique-m-ribeiro/ia-collab-os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6938925" y="4559498"/>
            <a:ext cx="1490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Licença MIT • Livre para uso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2026-01-14T16:23:19Z</dcterms:created>
  <dcterms:modified xsi:type="dcterms:W3CDTF">2026-01-14T16:23:19Z</dcterms:modified>
</cp:coreProperties>
</file>